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668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73180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NHANES 2017–2023 · POPULATION HEALTH STUDY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775135" y="762000"/>
            <a:ext cx="26371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 = 7,490 ADULTS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97497"/>
            <a:ext cx="514350" cy="38100"/>
          </a:xfrm>
          <a:prstGeom prst="rect">
            <a:avLst/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3016597"/>
            <a:ext cx="10619140" cy="2415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b="1" kern="0" spc="-1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is at risk for liver injury — and what </a:t>
            </a:r>
            <a:r>
              <a:rPr lang="en-US" sz="6000" b="1" kern="0" spc="-150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changed after COVID?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52500" y="5717753"/>
            <a:ext cx="824103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survey-weighted epidemiological &amp; machine-learning study of elevated ALT translated into portfolio strategy for Kenvue's consumer-health brands.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2024345" y="3011314"/>
            <a:ext cx="5311155" cy="3535635"/>
          </a:xfrm>
          <a:prstGeom prst="roundRect">
            <a:avLst>
              <a:gd name="adj" fmla="val 3772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481545" y="3525664"/>
            <a:ext cx="45286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FFFFFF">
                    <a:alpha val="78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 PREVALENCE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481545" y="3954289"/>
            <a:ext cx="4528658" cy="1232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900" b="1" kern="0" spc="-297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8.2</a:t>
            </a:r>
            <a:r>
              <a:rPr lang="en-US" sz="4500" b="1" kern="0" spc="-297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</a:t>
            </a:r>
            <a:endParaRPr lang="en-US" sz="9900" dirty="0"/>
          </a:p>
        </p:txBody>
      </p:sp>
      <p:sp>
        <p:nvSpPr>
          <p:cNvPr id="10" name="Text 8"/>
          <p:cNvSpPr/>
          <p:nvPr/>
        </p:nvSpPr>
        <p:spPr>
          <a:xfrm>
            <a:off x="12481545" y="5339209"/>
            <a:ext cx="4528658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FFFFFF">
                    <a:alpha val="92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U.S. adults have elevated ALT the primary clinical marker for liver injury.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2500" y="8824913"/>
            <a:ext cx="16383000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52500" y="9024938"/>
            <a:ext cx="450673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Sai Adarsh Kasula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2500" y="9382125"/>
            <a:ext cx="45067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SCIENCE PORTFOLIO · 2026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294590" y="9203531"/>
            <a:ext cx="72521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EPIDEMIOLOGY · MACHINE LEARNING · AGENTIC AI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THE OPPORTUNITY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28725"/>
            <a:ext cx="14716125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b="1" kern="0" spc="-8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population liver data </a:t>
            </a:r>
            <a:r>
              <a:rPr lang="en-US" sz="4050" b="1" kern="0" spc="-81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matters to Kenvue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1935063"/>
            <a:ext cx="11576685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Kenvue owns brands sitting at the intersection of everyday health and liver safety. Knowing </a:t>
            </a:r>
            <a:r>
              <a:rPr lang="en-US" sz="2250" i="1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</a:t>
            </a:r>
            <a:r>
              <a:rPr lang="en-US" sz="225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 elevated ALT and how it shifted after COVID informs safer products, better labels, and sharper consumer campaigns.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3724201"/>
            <a:ext cx="3924300" cy="2818209"/>
          </a:xfrm>
          <a:prstGeom prst="roundRect">
            <a:avLst>
              <a:gd name="adj" fmla="val 4732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47775" y="4057576"/>
            <a:ext cx="34337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47775" y="4486201"/>
            <a:ext cx="34337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Pain relief &amp; antipyretics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47775" y="4929113"/>
            <a:ext cx="3433763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Acetaminophen is the #1 cause of acute liver failure in the U.S. — baseline ALT defines the clinical "background noise."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05400" y="3724201"/>
            <a:ext cx="3924300" cy="2818209"/>
          </a:xfrm>
          <a:prstGeom prst="roundRect">
            <a:avLst>
              <a:gd name="adj" fmla="val 4732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00675" y="4057576"/>
            <a:ext cx="34337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00675" y="4486201"/>
            <a:ext cx="34337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Digestive health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400675" y="4929113"/>
            <a:ext cx="3433763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Metabolic dysfunction drives non-alcoholic fatty liver disease (NAFLD) a growing OTC opportunity.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58300" y="3724586"/>
            <a:ext cx="3924300" cy="2818210"/>
          </a:xfrm>
          <a:prstGeom prst="roundRect">
            <a:avLst>
              <a:gd name="adj" fmla="val 4732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53575" y="4057961"/>
            <a:ext cx="34337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53575" y="4486586"/>
            <a:ext cx="34337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Consumer wellness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53575" y="4929499"/>
            <a:ext cx="3433763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Depression, poor sleep, and sedentary behavior rose post-COVID this study quantifies their real liver impact.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411200" y="3726251"/>
            <a:ext cx="3924300" cy="2818210"/>
          </a:xfrm>
          <a:prstGeom prst="roundRect">
            <a:avLst>
              <a:gd name="adj" fmla="val 4732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06475" y="4059626"/>
            <a:ext cx="34337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06475" y="4488251"/>
            <a:ext cx="34337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Safety surveillance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706475" y="4931164"/>
            <a:ext cx="3433763" cy="998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8.2% real-world ALT elevation is the denominator for any post-market safety signal.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2500" y="6868311"/>
            <a:ext cx="16383000" cy="1445865"/>
          </a:xfrm>
          <a:prstGeom prst="roundRect">
            <a:avLst>
              <a:gd name="adj" fmla="val 9223"/>
            </a:avLst>
          </a:prstGeom>
          <a:solidFill>
            <a:srgbClr val="E7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295400" y="7154061"/>
            <a:ext cx="27533" cy="874365"/>
          </a:xfrm>
          <a:prstGeom prst="roundRect">
            <a:avLst>
              <a:gd name="adj" fmla="val 50000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532483" y="7154061"/>
            <a:ext cx="15923920" cy="91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550" dirty="0">
                <a:solidFill>
                  <a:srgbClr val="125E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thesis — knowing </a:t>
            </a:r>
            <a:r>
              <a:rPr lang="en-US" sz="2550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</a:t>
            </a:r>
            <a:r>
              <a:rPr lang="en-US" sz="2550" dirty="0">
                <a:solidFill>
                  <a:srgbClr val="125E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 elevated ALT at baseline, and how it changed after COVID, helps Kenvue build safer products, clearer warnings, and better-targeted consumer health.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952500" y="9182100"/>
            <a:ext cx="16383000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2500" y="9382125"/>
            <a:ext cx="62443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NHANES × KENVUE — LIVER INJURY ANALYSIS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024598" y="9382125"/>
            <a:ext cx="3871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METHODOLOGY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28725"/>
            <a:ext cx="14716125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b="1" kern="0" spc="-8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NHANES cohorts, </a:t>
            </a:r>
            <a:r>
              <a:rPr lang="en-US" sz="4050" b="1" kern="0" spc="-81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rigorous pipeline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30570" y="1804094"/>
            <a:ext cx="115766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NHANES is the CDC's gold-standard health survey — survey weights let the ~7,500 analyzed adults represent the entire U.S. adult population (~240M).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2839938"/>
            <a:ext cx="3096592" cy="2376488"/>
          </a:xfrm>
          <a:prstGeom prst="roundRect">
            <a:avLst>
              <a:gd name="adj" fmla="val 56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2500" y="5206901"/>
            <a:ext cx="3096592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52500" y="2839938"/>
            <a:ext cx="3096592" cy="38100"/>
          </a:xfrm>
          <a:prstGeom prst="rect">
            <a:avLst/>
          </a:prstGeom>
          <a:solidFill>
            <a:srgbClr val="5E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2500" y="2839938"/>
            <a:ext cx="9525" cy="2376488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39567" y="2839938"/>
            <a:ext cx="9525" cy="2376488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1575" y="3068538"/>
            <a:ext cx="27381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C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2017–2018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1575" y="3382863"/>
            <a:ext cx="27381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PRE-COVID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71575" y="3792438"/>
            <a:ext cx="273819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b="1" kern="0" spc="-69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3,543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171575" y="4268688"/>
            <a:ext cx="27381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analytic sample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1575" y="4697313"/>
            <a:ext cx="273819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 &gt;40 U/L · 8.15%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201492" y="2839938"/>
            <a:ext cx="3096592" cy="2376488"/>
          </a:xfrm>
          <a:prstGeom prst="roundRect">
            <a:avLst>
              <a:gd name="adj" fmla="val 56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01492" y="5206901"/>
            <a:ext cx="3096592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01492" y="2839938"/>
            <a:ext cx="3096592" cy="38100"/>
          </a:xfrm>
          <a:prstGeom prst="rect">
            <a:avLst/>
          </a:prstGeom>
          <a:solidFill>
            <a:srgbClr val="C57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01492" y="2839938"/>
            <a:ext cx="9525" cy="2376488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88560" y="2839938"/>
            <a:ext cx="9525" cy="2376488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0567" y="3068538"/>
            <a:ext cx="27381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57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2021–2023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20567" y="3382863"/>
            <a:ext cx="27381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POST-COVID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20567" y="3792438"/>
            <a:ext cx="273819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b="1" kern="0" spc="-69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3,947</a:t>
            </a:r>
            <a:endParaRPr lang="en-US" sz="3450" dirty="0"/>
          </a:p>
        </p:txBody>
      </p:sp>
      <p:sp>
        <p:nvSpPr>
          <p:cNvPr id="23" name="Text 21"/>
          <p:cNvSpPr/>
          <p:nvPr/>
        </p:nvSpPr>
        <p:spPr>
          <a:xfrm>
            <a:off x="4420567" y="4268688"/>
            <a:ext cx="27381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analytic sample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420567" y="4697313"/>
            <a:ext cx="273819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 &gt;40 U/L · 7.36%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52500" y="5369018"/>
            <a:ext cx="6345585" cy="3697486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90625" y="5549993"/>
            <a:ext cx="60454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PREDICTOR FAMILIES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90625" y="5997668"/>
            <a:ext cx="1749177" cy="447675"/>
          </a:xfrm>
          <a:prstGeom prst="roundRect">
            <a:avLst>
              <a:gd name="adj" fmla="val 17021"/>
            </a:avLst>
          </a:prstGeom>
          <a:solidFill>
            <a:srgbClr val="E9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23975" y="6073868"/>
            <a:ext cx="1558677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 · sex · PIR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035052" y="5997668"/>
            <a:ext cx="1446088" cy="447675"/>
          </a:xfrm>
          <a:prstGeom prst="roundRect">
            <a:avLst>
              <a:gd name="adj" fmla="val 17021"/>
            </a:avLst>
          </a:prstGeom>
          <a:solidFill>
            <a:srgbClr val="E9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168402" y="6073868"/>
            <a:ext cx="12555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Waist · BMI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90625" y="6540593"/>
            <a:ext cx="3669878" cy="447675"/>
          </a:xfrm>
          <a:prstGeom prst="roundRect">
            <a:avLst>
              <a:gd name="adj" fmla="val 17021"/>
            </a:avLst>
          </a:prstGeom>
          <a:solidFill>
            <a:srgbClr val="E9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323975" y="6616793"/>
            <a:ext cx="3513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Diabetes · triglycerides · smoking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90625" y="7083518"/>
            <a:ext cx="3536603" cy="447675"/>
          </a:xfrm>
          <a:prstGeom prst="roundRect">
            <a:avLst>
              <a:gd name="adj" fmla="val 17021"/>
            </a:avLst>
          </a:prstGeom>
          <a:solidFill>
            <a:srgbClr val="E9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323975" y="7159718"/>
            <a:ext cx="33760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Blood lead · cadmium · mercury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90625" y="7626443"/>
            <a:ext cx="2909813" cy="447675"/>
          </a:xfrm>
          <a:prstGeom prst="roundRect">
            <a:avLst>
              <a:gd name="adj" fmla="val 17021"/>
            </a:avLst>
          </a:prstGeom>
          <a:solidFill>
            <a:srgbClr val="E7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323975" y="7702643"/>
            <a:ext cx="27304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5E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PHQ-9 · sleep · sedentary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90625" y="8245568"/>
            <a:ext cx="604541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Outcome: </a:t>
            </a: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 &gt;40 U/L &amp; sex-specific AASLD thresholds. Survey-weighted throughout.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679085" y="2839938"/>
            <a:ext cx="3104480" cy="6226373"/>
          </a:xfrm>
          <a:prstGeom prst="roundRect">
            <a:avLst>
              <a:gd name="adj" fmla="val 4295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936260" y="3135213"/>
            <a:ext cx="26678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1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936260" y="3525738"/>
            <a:ext cx="2667834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EDA &amp; weighted prevalence</a:t>
            </a:r>
            <a:endParaRPr lang="en-US" sz="2550" dirty="0"/>
          </a:p>
        </p:txBody>
      </p:sp>
      <p:sp>
        <p:nvSpPr>
          <p:cNvPr id="41" name="Shape 39"/>
          <p:cNvSpPr/>
          <p:nvPr/>
        </p:nvSpPr>
        <p:spPr>
          <a:xfrm>
            <a:off x="7936260" y="4428679"/>
            <a:ext cx="2590130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985790" y="4628704"/>
            <a:ext cx="2616800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Survey-weighted descriptives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Subgroups by sex, age, race, BMI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Biomarker correlation structure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0955015" y="2839938"/>
            <a:ext cx="3104480" cy="6226373"/>
          </a:xfrm>
          <a:prstGeom prst="roundRect">
            <a:avLst>
              <a:gd name="adj" fmla="val 42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955015" y="9056787"/>
            <a:ext cx="3104480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0955015" y="2839938"/>
            <a:ext cx="3104480" cy="38100"/>
          </a:xfrm>
          <a:prstGeom prst="rect">
            <a:avLst/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0955015" y="2839938"/>
            <a:ext cx="9525" cy="6226373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049970" y="2839938"/>
            <a:ext cx="9525" cy="6226373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1212190" y="3163788"/>
            <a:ext cx="26678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2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1212190" y="3497648"/>
            <a:ext cx="2667834" cy="110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Inference &amp; machine learning</a:t>
            </a:r>
            <a:endParaRPr lang="en-US" sz="2550" dirty="0"/>
          </a:p>
        </p:txBody>
      </p:sp>
      <p:sp>
        <p:nvSpPr>
          <p:cNvPr id="50" name="Shape 48"/>
          <p:cNvSpPr/>
          <p:nvPr/>
        </p:nvSpPr>
        <p:spPr>
          <a:xfrm>
            <a:off x="11212190" y="4813474"/>
            <a:ext cx="2590130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1261720" y="5013499"/>
            <a:ext cx="2616800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Weighted logistic regression (Taylor-series CIs)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10-predictor adjusted model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XGBoost + SHAP · calibration · ROC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4230945" y="2839938"/>
            <a:ext cx="3104480" cy="6226373"/>
          </a:xfrm>
          <a:prstGeom prst="roundRect">
            <a:avLst>
              <a:gd name="adj" fmla="val 4295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4488120" y="3135213"/>
            <a:ext cx="26678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3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4488120" y="3525738"/>
            <a:ext cx="2667834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 / post-COVID comparison</a:t>
            </a:r>
            <a:endParaRPr lang="en-US" sz="2550" dirty="0"/>
          </a:p>
        </p:txBody>
      </p:sp>
      <p:sp>
        <p:nvSpPr>
          <p:cNvPr id="55" name="Shape 53"/>
          <p:cNvSpPr/>
          <p:nvPr/>
        </p:nvSpPr>
        <p:spPr>
          <a:xfrm>
            <a:off x="14488120" y="4428679"/>
            <a:ext cx="2590130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4537650" y="4628704"/>
            <a:ext cx="2616800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model re-fit to 2021–2023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Prevalence &amp; OR trajectories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Wellness-variable hypothesis tests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952500" y="9182100"/>
            <a:ext cx="16383000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52500" y="9382125"/>
            <a:ext cx="62443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NHANES × KENVUE — LIVER INJURY ANALYSIS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7024598" y="9382125"/>
            <a:ext cx="3871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BASELINE FINDINGS · 2017–2018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28725"/>
            <a:ext cx="14716125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b="1" kern="0" spc="-8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is at risk — </a:t>
            </a:r>
            <a:r>
              <a:rPr lang="en-US" sz="4050" b="1" kern="0" spc="-81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what drives it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2430587"/>
            <a:ext cx="669323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WEIGHTED PREVALENCE OF ELEVATED ALT, BY RACE / ETHNICITY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309268"/>
            <a:ext cx="25527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Other / Multi-racial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3600450" y="3268787"/>
            <a:ext cx="2935932" cy="400050"/>
          </a:xfrm>
          <a:prstGeom prst="roundRect">
            <a:avLst>
              <a:gd name="adj" fmla="val 14286"/>
            </a:avLst>
          </a:prstGeom>
          <a:solidFill>
            <a:srgbClr val="EF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00450" y="3268787"/>
            <a:ext cx="2701007" cy="400050"/>
          </a:xfrm>
          <a:prstGeom prst="roundRect">
            <a:avLst>
              <a:gd name="adj" fmla="val 14286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31632" y="3321174"/>
            <a:ext cx="819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9.2%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3842668"/>
            <a:ext cx="25527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Mexican American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3600450" y="3802187"/>
            <a:ext cx="2935932" cy="400050"/>
          </a:xfrm>
          <a:prstGeom prst="roundRect">
            <a:avLst>
              <a:gd name="adj" fmla="val 14286"/>
            </a:avLst>
          </a:prstGeom>
          <a:solidFill>
            <a:srgbClr val="EF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00450" y="3802187"/>
            <a:ext cx="2612975" cy="400050"/>
          </a:xfrm>
          <a:prstGeom prst="roundRect">
            <a:avLst>
              <a:gd name="adj" fmla="val 14286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31632" y="3854574"/>
            <a:ext cx="819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8.9%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500" y="4376068"/>
            <a:ext cx="25527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Non-Hispanic Asian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3600450" y="4335587"/>
            <a:ext cx="2935932" cy="400050"/>
          </a:xfrm>
          <a:prstGeom prst="roundRect">
            <a:avLst>
              <a:gd name="adj" fmla="val 14286"/>
            </a:avLst>
          </a:prstGeom>
          <a:solidFill>
            <a:srgbClr val="EF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00450" y="4335587"/>
            <a:ext cx="2055093" cy="400050"/>
          </a:xfrm>
          <a:prstGeom prst="roundRect">
            <a:avLst>
              <a:gd name="adj" fmla="val 14286"/>
            </a:avLst>
          </a:prstGeom>
          <a:solidFill>
            <a:srgbClr val="1B7A7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31632" y="4387974"/>
            <a:ext cx="819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2500" y="4909468"/>
            <a:ext cx="25527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Other Hispanic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3600450" y="4868987"/>
            <a:ext cx="2935932" cy="400050"/>
          </a:xfrm>
          <a:prstGeom prst="roundRect">
            <a:avLst>
              <a:gd name="adj" fmla="val 14286"/>
            </a:avLst>
          </a:prstGeom>
          <a:solidFill>
            <a:srgbClr val="EF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00450" y="4868987"/>
            <a:ext cx="1673423" cy="400050"/>
          </a:xfrm>
          <a:prstGeom prst="roundRect">
            <a:avLst>
              <a:gd name="adj" fmla="val 14286"/>
            </a:avLst>
          </a:prstGeom>
          <a:solidFill>
            <a:srgbClr val="1B7A78">
              <a:alpha val="6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31632" y="4921374"/>
            <a:ext cx="819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5.7%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2500" y="5442868"/>
            <a:ext cx="25527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Non-Hispanic White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3600450" y="5402387"/>
            <a:ext cx="2935932" cy="400050"/>
          </a:xfrm>
          <a:prstGeom prst="roundRect">
            <a:avLst>
              <a:gd name="adj" fmla="val 14286"/>
            </a:avLst>
          </a:prstGeom>
          <a:solidFill>
            <a:srgbClr val="EF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00450" y="5402387"/>
            <a:ext cx="1321147" cy="400050"/>
          </a:xfrm>
          <a:prstGeom prst="roundRect">
            <a:avLst>
              <a:gd name="adj" fmla="val 14286"/>
            </a:avLst>
          </a:prstGeom>
          <a:solidFill>
            <a:srgbClr val="1B7A7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31632" y="5454774"/>
            <a:ext cx="819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4.5%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2500" y="5976268"/>
            <a:ext cx="25527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Non-Hispanic Black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3600450" y="5935787"/>
            <a:ext cx="2935932" cy="400050"/>
          </a:xfrm>
          <a:prstGeom prst="roundRect">
            <a:avLst>
              <a:gd name="adj" fmla="val 14286"/>
            </a:avLst>
          </a:prstGeom>
          <a:solidFill>
            <a:srgbClr val="EF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00450" y="5935787"/>
            <a:ext cx="998190" cy="400050"/>
          </a:xfrm>
          <a:prstGeom prst="roundRect">
            <a:avLst>
              <a:gd name="adj" fmla="val 14286"/>
            </a:avLst>
          </a:prstGeom>
          <a:solidFill>
            <a:srgbClr val="1B7A78">
              <a:alpha val="4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31632" y="5988174"/>
            <a:ext cx="819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3.4%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52500" y="6621587"/>
            <a:ext cx="3163416" cy="1569690"/>
          </a:xfrm>
          <a:prstGeom prst="roundRect">
            <a:avLst>
              <a:gd name="adj" fmla="val 8495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71575" y="6840662"/>
            <a:ext cx="280702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8.7%</a:t>
            </a:r>
            <a:endParaRPr lang="en-US" sz="3450" dirty="0"/>
          </a:p>
        </p:txBody>
      </p:sp>
      <p:sp>
        <p:nvSpPr>
          <p:cNvPr id="31" name="Text 29"/>
          <p:cNvSpPr/>
          <p:nvPr/>
        </p:nvSpPr>
        <p:spPr>
          <a:xfrm>
            <a:off x="1171575" y="7355012"/>
            <a:ext cx="2807024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Young adults 18–40 — the highest-risk age band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287366" y="6621587"/>
            <a:ext cx="3163416" cy="1569690"/>
          </a:xfrm>
          <a:prstGeom prst="roundRect">
            <a:avLst>
              <a:gd name="adj" fmla="val 8495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06441" y="6840662"/>
            <a:ext cx="280702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8.3%</a:t>
            </a:r>
            <a:endParaRPr lang="en-US" sz="3450" dirty="0"/>
          </a:p>
        </p:txBody>
      </p:sp>
      <p:sp>
        <p:nvSpPr>
          <p:cNvPr id="34" name="Text 32"/>
          <p:cNvSpPr/>
          <p:nvPr/>
        </p:nvSpPr>
        <p:spPr>
          <a:xfrm>
            <a:off x="4506441" y="7355012"/>
            <a:ext cx="2807024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Obese (BMI ≥30) vs. 2.0% at normal weight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984182" y="2430587"/>
            <a:ext cx="96317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ADJUSTED ODDS RATIOS · 10-PREDICTOR WEIGHTED LOGISTIC MODEL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984182" y="3044949"/>
            <a:ext cx="27470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Triglycerides (log)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2794754" y="2954462"/>
            <a:ext cx="19050" cy="476250"/>
          </a:xfrm>
          <a:prstGeom prst="rect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3098661" y="3168774"/>
            <a:ext cx="1731169" cy="47625"/>
          </a:xfrm>
          <a:prstGeom prst="roundRect">
            <a:avLst>
              <a:gd name="adj" fmla="val 50000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3875841" y="3106862"/>
            <a:ext cx="171450" cy="171450"/>
          </a:xfrm>
          <a:prstGeom prst="ellipse">
            <a:avLst/>
          </a:prstGeom>
          <a:solidFill>
            <a:srgbClr val="1B7A78"/>
          </a:solidFill>
          <a:ln w="28575">
            <a:solidFill>
              <a:srgbClr val="FAF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6001926" y="3044949"/>
            <a:ext cx="1333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1.77 ★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984182" y="3521199"/>
            <a:ext cx="27470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Waist circumference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2794754" y="3430712"/>
            <a:ext cx="19050" cy="476250"/>
          </a:xfrm>
          <a:prstGeom prst="rect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2811051" y="3645024"/>
            <a:ext cx="70545" cy="47625"/>
          </a:xfrm>
          <a:prstGeom prst="roundRect">
            <a:avLst>
              <a:gd name="adj" fmla="val 50000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2763351" y="3583112"/>
            <a:ext cx="171450" cy="171450"/>
          </a:xfrm>
          <a:prstGeom prst="ellipse">
            <a:avLst/>
          </a:prstGeom>
          <a:solidFill>
            <a:srgbClr val="1B7A78"/>
          </a:solidFill>
          <a:ln w="28575">
            <a:solidFill>
              <a:srgbClr val="FAF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6001926" y="3521199"/>
            <a:ext cx="1333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1.03 ★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984182" y="3997449"/>
            <a:ext cx="27470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2794754" y="3906962"/>
            <a:ext cx="19050" cy="476250"/>
          </a:xfrm>
          <a:prstGeom prst="rect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2664529" y="4121274"/>
            <a:ext cx="92199" cy="47625"/>
          </a:xfrm>
          <a:prstGeom prst="roundRect">
            <a:avLst>
              <a:gd name="adj" fmla="val 50000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2622262" y="4059362"/>
            <a:ext cx="171450" cy="171450"/>
          </a:xfrm>
          <a:prstGeom prst="ellipse">
            <a:avLst/>
          </a:prstGeom>
          <a:solidFill>
            <a:srgbClr val="1B7A78"/>
          </a:solidFill>
          <a:ln w="28575">
            <a:solidFill>
              <a:srgbClr val="FAF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6001926" y="3997449"/>
            <a:ext cx="1333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0.96 ★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984182" y="4473699"/>
            <a:ext cx="27470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Male sex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2794754" y="4383212"/>
            <a:ext cx="19050" cy="476250"/>
          </a:xfrm>
          <a:prstGeom prst="rect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2659097" y="4597524"/>
            <a:ext cx="3147566" cy="47625"/>
          </a:xfrm>
          <a:prstGeom prst="roundRect">
            <a:avLst>
              <a:gd name="adj" fmla="val 50000"/>
            </a:avLst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4147229" y="4535612"/>
            <a:ext cx="171450" cy="171450"/>
          </a:xfrm>
          <a:prstGeom prst="ellipse">
            <a:avLst/>
          </a:prstGeom>
          <a:solidFill>
            <a:srgbClr val="5A6470"/>
          </a:solidFill>
          <a:ln w="28575">
            <a:solidFill>
              <a:srgbClr val="FAF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6001926" y="4473699"/>
            <a:ext cx="1333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2.03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7984182" y="4949949"/>
            <a:ext cx="27470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Diabetes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2794754" y="4859462"/>
            <a:ext cx="19050" cy="476250"/>
          </a:xfrm>
          <a:prstGeom prst="rect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2626578" y="5073774"/>
            <a:ext cx="3109615" cy="47625"/>
          </a:xfrm>
          <a:prstGeom prst="roundRect">
            <a:avLst>
              <a:gd name="adj" fmla="val 50000"/>
            </a:avLst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4098339" y="5011862"/>
            <a:ext cx="171450" cy="171450"/>
          </a:xfrm>
          <a:prstGeom prst="ellipse">
            <a:avLst/>
          </a:prstGeom>
          <a:solidFill>
            <a:srgbClr val="5A6470"/>
          </a:solidFill>
          <a:ln w="28575">
            <a:solidFill>
              <a:srgbClr val="FAF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6001926" y="4949949"/>
            <a:ext cx="1333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1.98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7984182" y="5426199"/>
            <a:ext cx="27470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 smoker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2794754" y="5335712"/>
            <a:ext cx="19050" cy="476250"/>
          </a:xfrm>
          <a:prstGeom prst="rect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0797704" y="5550024"/>
            <a:ext cx="2181597" cy="47625"/>
          </a:xfrm>
          <a:prstGeom prst="roundRect">
            <a:avLst>
              <a:gd name="adj" fmla="val 50000"/>
            </a:avLst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1802740" y="5488112"/>
            <a:ext cx="171450" cy="171450"/>
          </a:xfrm>
          <a:prstGeom prst="ellipse">
            <a:avLst/>
          </a:prstGeom>
          <a:solidFill>
            <a:srgbClr val="5A6470"/>
          </a:solidFill>
          <a:ln w="28575">
            <a:solidFill>
              <a:srgbClr val="FAF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6001926" y="5426199"/>
            <a:ext cx="1333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0.64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7984182" y="5811962"/>
            <a:ext cx="274701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Heavy metals (Pb · Cd · Hg)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2794754" y="5869112"/>
            <a:ext cx="19050" cy="476250"/>
          </a:xfrm>
          <a:prstGeom prst="rect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1948220" y="6083424"/>
            <a:ext cx="2501801" cy="47625"/>
          </a:xfrm>
          <a:prstGeom prst="roundRect">
            <a:avLst>
              <a:gd name="adj" fmla="val 50000"/>
            </a:avLst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2790438" y="6021512"/>
            <a:ext cx="171450" cy="171450"/>
          </a:xfrm>
          <a:prstGeom prst="ellipse">
            <a:avLst/>
          </a:prstGeom>
          <a:solidFill>
            <a:srgbClr val="5A6470"/>
          </a:solidFill>
          <a:ln w="28575">
            <a:solidFill>
              <a:srgbClr val="FAF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6001926" y="5959599"/>
            <a:ext cx="1333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n.s.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0651182" y="6345362"/>
            <a:ext cx="5426943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1172602" y="6431087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12588999" y="6431087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14000038" y="6431087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15416436" y="6431087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4.0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7984182" y="6878762"/>
            <a:ext cx="963178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★ significant. </a:t>
            </a: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Waist circumference &amp; triglycerides are the modifiable metabolic levers. Heavy metals show no association once metabolic factors are controlled.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952500" y="9182100"/>
            <a:ext cx="16383000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952500" y="9382125"/>
            <a:ext cx="62443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NHANES × KENVUE — LIVER INJURY ANALYSIS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17024598" y="9382125"/>
            <a:ext cx="3871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MACHINE LEARNING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28725"/>
            <a:ext cx="14716125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b="1" kern="0" spc="-8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model that </a:t>
            </a:r>
            <a:r>
              <a:rPr lang="en-US" sz="4050" b="1" kern="0" spc="-81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rules out liver injury </a:t>
            </a:r>
            <a:r>
              <a:rPr lang="en-US" sz="4050" b="1" kern="0" spc="-8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99% confidence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52500" y="2298204"/>
            <a:ext cx="3938588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2500" y="3736479"/>
            <a:ext cx="3938588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2500" y="2298204"/>
            <a:ext cx="3938588" cy="38100"/>
          </a:xfrm>
          <a:prstGeom prst="rect">
            <a:avLst/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52500" y="2298204"/>
            <a:ext cx="9525" cy="1447800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81563" y="2298204"/>
            <a:ext cx="9525" cy="1447800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9675" y="2564904"/>
            <a:ext cx="35269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AUC-ROC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9675" y="2936379"/>
            <a:ext cx="352696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90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0.973</a:t>
            </a:r>
            <a:endParaRPr lang="en-US" sz="4500" dirty="0"/>
          </a:p>
        </p:txBody>
      </p:sp>
      <p:sp>
        <p:nvSpPr>
          <p:cNvPr id="11" name="Shape 9"/>
          <p:cNvSpPr/>
          <p:nvPr/>
        </p:nvSpPr>
        <p:spPr>
          <a:xfrm>
            <a:off x="5100638" y="2298204"/>
            <a:ext cx="3938588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00638" y="3736479"/>
            <a:ext cx="3938588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00638" y="2298204"/>
            <a:ext cx="3938588" cy="38100"/>
          </a:xfrm>
          <a:prstGeom prst="rect">
            <a:avLst/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00638" y="2298204"/>
            <a:ext cx="9525" cy="1447800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029700" y="2298204"/>
            <a:ext cx="9525" cy="1447800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57813" y="2564904"/>
            <a:ext cx="35269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NEG. PREDICTIVE VALUE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57813" y="2936379"/>
            <a:ext cx="352696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90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99.3</a:t>
            </a:r>
            <a:r>
              <a:rPr lang="en-US" sz="2550" b="1" kern="0" spc="-90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</a:t>
            </a:r>
            <a:endParaRPr lang="en-US" sz="4500" dirty="0"/>
          </a:p>
        </p:txBody>
      </p:sp>
      <p:sp>
        <p:nvSpPr>
          <p:cNvPr id="18" name="Shape 16"/>
          <p:cNvSpPr/>
          <p:nvPr/>
        </p:nvSpPr>
        <p:spPr>
          <a:xfrm>
            <a:off x="9248775" y="2298204"/>
            <a:ext cx="3938588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05950" y="2536329"/>
            <a:ext cx="35269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SENSITIVITY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05950" y="2907804"/>
            <a:ext cx="352696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9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92.6</a:t>
            </a:r>
            <a:r>
              <a:rPr lang="en-US" sz="2550" b="1" kern="0" spc="-9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</a:t>
            </a:r>
            <a:endParaRPr lang="en-US" sz="4500" dirty="0"/>
          </a:p>
        </p:txBody>
      </p:sp>
      <p:sp>
        <p:nvSpPr>
          <p:cNvPr id="21" name="Shape 19"/>
          <p:cNvSpPr/>
          <p:nvPr/>
        </p:nvSpPr>
        <p:spPr>
          <a:xfrm>
            <a:off x="13396913" y="2298204"/>
            <a:ext cx="3938588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654088" y="2536329"/>
            <a:ext cx="35269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SPECIFICITY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654088" y="2907804"/>
            <a:ext cx="352696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9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92.2</a:t>
            </a:r>
            <a:r>
              <a:rPr lang="en-US" sz="2550" b="1" kern="0" spc="-9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</a:t>
            </a:r>
            <a:endParaRPr lang="en-US" sz="4500" dirty="0"/>
          </a:p>
        </p:txBody>
      </p:sp>
      <p:sp>
        <p:nvSpPr>
          <p:cNvPr id="24" name="Text 22"/>
          <p:cNvSpPr/>
          <p:nvPr/>
        </p:nvSpPr>
        <p:spPr>
          <a:xfrm>
            <a:off x="952500" y="3993654"/>
            <a:ext cx="91130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TOP SHAP FEATURE IMPORTANCE · XGBOOST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2500" y="4510385"/>
            <a:ext cx="21717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AST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3219450" y="4498479"/>
            <a:ext cx="5647209" cy="342900"/>
          </a:xfrm>
          <a:prstGeom prst="roundRect">
            <a:avLst>
              <a:gd name="adj" fmla="val 16667"/>
            </a:avLst>
          </a:prstGeom>
          <a:solidFill>
            <a:srgbClr val="EF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19450" y="4498479"/>
            <a:ext cx="5647209" cy="342900"/>
          </a:xfrm>
          <a:prstGeom prst="roundRect">
            <a:avLst>
              <a:gd name="adj" fmla="val 16667"/>
            </a:avLst>
          </a:prstGeom>
          <a:solidFill>
            <a:srgbClr val="5E7C99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961909" y="4522291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1.78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52500" y="4977110"/>
            <a:ext cx="21717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GGT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3219450" y="4965204"/>
            <a:ext cx="5647209" cy="342900"/>
          </a:xfrm>
          <a:prstGeom prst="roundRect">
            <a:avLst>
              <a:gd name="adj" fmla="val 16667"/>
            </a:avLst>
          </a:prstGeom>
          <a:solidFill>
            <a:srgbClr val="EF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19450" y="4965204"/>
            <a:ext cx="1298823" cy="342900"/>
          </a:xfrm>
          <a:prstGeom prst="roundRect">
            <a:avLst>
              <a:gd name="adj" fmla="val 16667"/>
            </a:avLst>
          </a:prstGeom>
          <a:solidFill>
            <a:srgbClr val="5E7C99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961909" y="4989016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2500" y="5443835"/>
            <a:ext cx="21717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3219450" y="5431929"/>
            <a:ext cx="5647209" cy="342900"/>
          </a:xfrm>
          <a:prstGeom prst="roundRect">
            <a:avLst>
              <a:gd name="adj" fmla="val 16667"/>
            </a:avLst>
          </a:prstGeom>
          <a:solidFill>
            <a:srgbClr val="EF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19450" y="5431929"/>
            <a:ext cx="1185863" cy="342900"/>
          </a:xfrm>
          <a:prstGeom prst="roundRect">
            <a:avLst>
              <a:gd name="adj" fmla="val 16667"/>
            </a:avLst>
          </a:prstGeom>
          <a:solidFill>
            <a:srgbClr val="5E7C99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961909" y="5455741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52500" y="5910560"/>
            <a:ext cx="21717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25E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BMI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3219450" y="5898654"/>
            <a:ext cx="5647209" cy="342900"/>
          </a:xfrm>
          <a:prstGeom prst="roundRect">
            <a:avLst>
              <a:gd name="adj" fmla="val 16667"/>
            </a:avLst>
          </a:prstGeom>
          <a:solidFill>
            <a:srgbClr val="EF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19450" y="5898654"/>
            <a:ext cx="440457" cy="342900"/>
          </a:xfrm>
          <a:prstGeom prst="roundRect">
            <a:avLst>
              <a:gd name="adj" fmla="val 16667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961909" y="5922466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52500" y="6377285"/>
            <a:ext cx="21717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25E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Triglycerides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3219450" y="6365379"/>
            <a:ext cx="5647209" cy="342900"/>
          </a:xfrm>
          <a:prstGeom prst="roundRect">
            <a:avLst>
              <a:gd name="adj" fmla="val 16667"/>
            </a:avLst>
          </a:prstGeom>
          <a:solidFill>
            <a:srgbClr val="EF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219450" y="6365379"/>
            <a:ext cx="299293" cy="342900"/>
          </a:xfrm>
          <a:prstGeom prst="roundRect">
            <a:avLst>
              <a:gd name="adj" fmla="val 19095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961909" y="6389191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0.09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52500" y="6832104"/>
            <a:ext cx="21717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25E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Waist circumference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3219450" y="6979741"/>
            <a:ext cx="5647209" cy="342900"/>
          </a:xfrm>
          <a:prstGeom prst="roundRect">
            <a:avLst>
              <a:gd name="adj" fmla="val 16667"/>
            </a:avLst>
          </a:prstGeom>
          <a:solidFill>
            <a:srgbClr val="EF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219450" y="6979741"/>
            <a:ext cx="248469" cy="342900"/>
          </a:xfrm>
          <a:prstGeom prst="roundRect">
            <a:avLst>
              <a:gd name="adj" fmla="val 23001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961909" y="7003554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0.08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52500" y="7660779"/>
            <a:ext cx="9113037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AST &amp; GGT dominate because they are biochemically correlated with ALT — not independent causes. The </a:t>
            </a:r>
            <a:r>
              <a:rPr lang="en-US" sz="1800" b="1" dirty="0">
                <a:solidFill>
                  <a:srgbClr val="125E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actionable </a:t>
            </a: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predictors remain waist and triglycerides.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0257309" y="3994039"/>
            <a:ext cx="7078117" cy="3690937"/>
          </a:xfrm>
          <a:prstGeom prst="roundRect">
            <a:avLst>
              <a:gd name="adj" fmla="val 3613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571634" y="4232164"/>
            <a:ext cx="66429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ROC CURVE</a:t>
            </a:r>
            <a:endParaRPr lang="en-US" sz="1800" dirty="0"/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1634" y="4622689"/>
            <a:ext cx="6449467" cy="2209800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10571634" y="6951552"/>
            <a:ext cx="188118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AUC 0.973</a:t>
            </a:r>
            <a:endParaRPr lang="en-US" sz="3000" dirty="0"/>
          </a:p>
        </p:txBody>
      </p:sp>
      <p:sp>
        <p:nvSpPr>
          <p:cNvPr id="54" name="Text 51"/>
          <p:cNvSpPr/>
          <p:nvPr/>
        </p:nvSpPr>
        <p:spPr>
          <a:xfrm>
            <a:off x="12490921" y="7108714"/>
            <a:ext cx="32498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FPR → TPR · 31 FEATURES</a:t>
            </a:r>
            <a:endParaRPr lang="en-US" sz="1800" dirty="0"/>
          </a:p>
        </p:txBody>
      </p:sp>
      <p:sp>
        <p:nvSpPr>
          <p:cNvPr id="55" name="Shape 52"/>
          <p:cNvSpPr/>
          <p:nvPr/>
        </p:nvSpPr>
        <p:spPr>
          <a:xfrm>
            <a:off x="952500" y="9182100"/>
            <a:ext cx="16383000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952500" y="9382125"/>
            <a:ext cx="62443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NHANES × KENVUE — LIVER INJURY ANALYSIS</a:t>
            </a:r>
            <a:endParaRPr lang="en-US" sz="1800" dirty="0"/>
          </a:p>
        </p:txBody>
      </p:sp>
      <p:sp>
        <p:nvSpPr>
          <p:cNvPr id="57" name="Text 54"/>
          <p:cNvSpPr/>
          <p:nvPr/>
        </p:nvSpPr>
        <p:spPr>
          <a:xfrm>
            <a:off x="17024598" y="9382125"/>
            <a:ext cx="3871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POST-COVID SHIFT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28725"/>
            <a:ext cx="14716125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b="1" kern="0" spc="-8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changed between </a:t>
            </a:r>
            <a:r>
              <a:rPr lang="en-US" sz="4050" b="1" kern="0" spc="-81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2017–18 and 2021–23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2005980"/>
            <a:ext cx="74527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WEIGHTED PREVALENCE SHIFTS · PERCENTAGE POINTS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2548905"/>
            <a:ext cx="31394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Depression (PHQ-9 ≥10)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522788" y="2594149"/>
            <a:ext cx="19050" cy="228600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22788" y="2594149"/>
            <a:ext cx="486296" cy="228600"/>
          </a:xfrm>
          <a:prstGeom prst="rect">
            <a:avLst/>
          </a:prstGeom>
          <a:solidFill>
            <a:srgbClr val="C57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68951" y="2548905"/>
            <a:ext cx="12192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C57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+3.6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52500" y="3039442"/>
            <a:ext cx="31394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 sedentary (≥8h/day)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522788" y="3084686"/>
            <a:ext cx="19050" cy="228600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22788" y="3084686"/>
            <a:ext cx="459284" cy="228600"/>
          </a:xfrm>
          <a:prstGeom prst="rect">
            <a:avLst/>
          </a:prstGeom>
          <a:solidFill>
            <a:srgbClr val="C57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68951" y="3039442"/>
            <a:ext cx="12192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C57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+3.4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2500" y="3529980"/>
            <a:ext cx="31394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 &gt;40 U/L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522788" y="3575224"/>
            <a:ext cx="19050" cy="228600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14814" y="3575224"/>
            <a:ext cx="108049" cy="228600"/>
          </a:xfrm>
          <a:prstGeom prst="roundRect">
            <a:avLst>
              <a:gd name="adj" fmla="val 44077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68951" y="3529980"/>
            <a:ext cx="12192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−0.8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52500" y="4020517"/>
            <a:ext cx="31394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Diabetes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522788" y="4065761"/>
            <a:ext cx="19050" cy="228600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47320" y="4065761"/>
            <a:ext cx="175543" cy="228600"/>
          </a:xfrm>
          <a:prstGeom prst="roundRect">
            <a:avLst>
              <a:gd name="adj" fmla="val 27130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68951" y="4020517"/>
            <a:ext cx="12192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−1.3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52500" y="4511055"/>
            <a:ext cx="31394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Obesity (BMI ≥30)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5522788" y="4556299"/>
            <a:ext cx="19050" cy="228600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71703" y="4556299"/>
            <a:ext cx="351160" cy="228600"/>
          </a:xfrm>
          <a:prstGeom prst="roundRect">
            <a:avLst>
              <a:gd name="adj" fmla="val 20833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68951" y="4511055"/>
            <a:ext cx="12192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−2.6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52500" y="5001592"/>
            <a:ext cx="31394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 sleep (&lt;7h)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5522788" y="5046836"/>
            <a:ext cx="19050" cy="228600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87962" y="5046836"/>
            <a:ext cx="634901" cy="228600"/>
          </a:xfrm>
          <a:prstGeom prst="roundRect">
            <a:avLst>
              <a:gd name="adj" fmla="val 20833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68951" y="5001592"/>
            <a:ext cx="12192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−4.7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52500" y="5549280"/>
            <a:ext cx="20702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Rose post-COVID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175174" y="5549280"/>
            <a:ext cx="19332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Fell post-COVID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721551" y="2005980"/>
            <a:ext cx="88723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TWO HEADLINE MODEL SHIFTS · SAME 10-PREDICTOR MODEL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721551" y="2529855"/>
            <a:ext cx="8613949" cy="2131516"/>
          </a:xfrm>
          <a:prstGeom prst="roundRect">
            <a:avLst>
              <a:gd name="adj" fmla="val 62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721551" y="4651846"/>
            <a:ext cx="8613949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721551" y="2529855"/>
            <a:ext cx="8613949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721551" y="2529855"/>
            <a:ext cx="47625" cy="2131516"/>
          </a:xfrm>
          <a:prstGeom prst="rect">
            <a:avLst/>
          </a:prstGeom>
          <a:solidFill>
            <a:srgbClr val="C57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7325975" y="2529855"/>
            <a:ext cx="9525" cy="2131516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093026" y="2825130"/>
            <a:ext cx="5806891" cy="782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Male sex became the dominant risk factor</a:t>
            </a:r>
            <a:endParaRPr lang="en-US" sz="2550" dirty="0"/>
          </a:p>
        </p:txBody>
      </p:sp>
      <p:sp>
        <p:nvSpPr>
          <p:cNvPr id="38" name="Text 36"/>
          <p:cNvSpPr/>
          <p:nvPr/>
        </p:nvSpPr>
        <p:spPr>
          <a:xfrm>
            <a:off x="14845085" y="2825130"/>
            <a:ext cx="2157040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 2.03 </a:t>
            </a:r>
            <a:r>
              <a:rPr lang="en-US" sz="1950" b="1" dirty="0">
                <a:solidFill>
                  <a:srgbClr val="C57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2.93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4845085" y="3163267"/>
            <a:ext cx="215704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57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 = 0.0006 ★★★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093026" y="3703216"/>
            <a:ext cx="814637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sex differential in liver injury widened sharply — making male-targeted liver-health messaging data-supported.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721551" y="4870921"/>
            <a:ext cx="8613949" cy="2131516"/>
          </a:xfrm>
          <a:prstGeom prst="roundRect">
            <a:avLst>
              <a:gd name="adj" fmla="val 62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721551" y="6992913"/>
            <a:ext cx="8613949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721551" y="4870921"/>
            <a:ext cx="8613949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721551" y="4870921"/>
            <a:ext cx="47625" cy="2131516"/>
          </a:xfrm>
          <a:prstGeom prst="rect">
            <a:avLst/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7325975" y="4870921"/>
            <a:ext cx="9525" cy="2131516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093026" y="5166196"/>
            <a:ext cx="5806891" cy="782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Diabetes is no longer a significant predictor</a:t>
            </a:r>
            <a:endParaRPr lang="en-US" sz="2550" dirty="0"/>
          </a:p>
        </p:txBody>
      </p:sp>
      <p:sp>
        <p:nvSpPr>
          <p:cNvPr id="47" name="Text 45"/>
          <p:cNvSpPr/>
          <p:nvPr/>
        </p:nvSpPr>
        <p:spPr>
          <a:xfrm>
            <a:off x="14845085" y="5166196"/>
            <a:ext cx="2157040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 1.98 </a:t>
            </a:r>
            <a:r>
              <a:rPr lang="en-US" sz="195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0.90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4845085" y="5504334"/>
            <a:ext cx="215704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 = 0.74 · n.s.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093026" y="6044282"/>
            <a:ext cx="814637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genuine shift in the metabolic landscape — plausibly GLP-1 adoption and COVID-era selection effects. Worth tracking prospectively.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8721551" y="7211988"/>
            <a:ext cx="4221212" cy="1403896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978726" y="7431063"/>
            <a:ext cx="38180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STABILITY · AUC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978726" y="7802538"/>
            <a:ext cx="381806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0.973 </a:t>
            </a:r>
            <a:r>
              <a:rPr lang="en-US" sz="1950" b="1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</a:t>
            </a:r>
            <a:r>
              <a:rPr lang="en-US" sz="1950" b="1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0.955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13114213" y="7211988"/>
            <a:ext cx="4221287" cy="1403896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3371388" y="7431063"/>
            <a:ext cx="38181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STABLE PREDICTORS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3371388" y="7802538"/>
            <a:ext cx="381814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Waist &amp; triglycerides — significant in both cohorts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952500" y="9182100"/>
            <a:ext cx="16383000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52500" y="9382125"/>
            <a:ext cx="62443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NHANES × KENVUE — LIVER INJURY ANALYSIS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7024598" y="9382125"/>
            <a:ext cx="3871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HYPOTHESIS TEST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28725"/>
            <a:ext cx="14716125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b="1" kern="0" spc="-8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wellness variables: </a:t>
            </a:r>
            <a:r>
              <a:rPr lang="en-US" sz="4050" b="1" kern="0" spc="-81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null finding that matters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1935063"/>
            <a:ext cx="11576685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Post-COVID, depression, poor sleep, and sedentary behavior were widely expected to worsen liver disease. Tested over and above the 10-predictor metabolic model — they don't.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3968948"/>
            <a:ext cx="964657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ADJUSTED ODDS RATIOS FOR ELEVATED ALT · 95% CI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4511873"/>
            <a:ext cx="96465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Depression (PHQ-9 ≥10)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186386" y="4907161"/>
            <a:ext cx="19050" cy="361950"/>
          </a:xfrm>
          <a:prstGeom prst="rect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00932" y="5064323"/>
            <a:ext cx="5840611" cy="47625"/>
          </a:xfrm>
          <a:prstGeom prst="roundRect">
            <a:avLst>
              <a:gd name="adj" fmla="val 50000"/>
            </a:avLst>
          </a:prstGeom>
          <a:solidFill>
            <a:srgbClr val="5E7C99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46898" y="5002411"/>
            <a:ext cx="171450" cy="171450"/>
          </a:xfrm>
          <a:prstGeom prst="ellipse">
            <a:avLst/>
          </a:prstGeom>
          <a:solidFill>
            <a:srgbClr val="5E7C99"/>
          </a:solidFill>
          <a:ln w="28575">
            <a:solidFill>
              <a:srgbClr val="FAF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32155" y="4940498"/>
            <a:ext cx="188595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1.37 · 2017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86386" y="5269111"/>
            <a:ext cx="19050" cy="361950"/>
          </a:xfrm>
          <a:prstGeom prst="rect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59161" y="5426273"/>
            <a:ext cx="4231258" cy="47625"/>
          </a:xfrm>
          <a:prstGeom prst="roundRect">
            <a:avLst>
              <a:gd name="adj" fmla="val 50000"/>
            </a:avLst>
          </a:prstGeom>
          <a:solidFill>
            <a:srgbClr val="C57B4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73996" y="5364361"/>
            <a:ext cx="171450" cy="171450"/>
          </a:xfrm>
          <a:prstGeom prst="ellipse">
            <a:avLst/>
          </a:prstGeom>
          <a:solidFill>
            <a:srgbClr val="C57B4F"/>
          </a:solidFill>
          <a:ln w="28575">
            <a:solidFill>
              <a:srgbClr val="FAF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32155" y="5302448"/>
            <a:ext cx="188595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0.92 · 2021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2500" y="5802511"/>
            <a:ext cx="96465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 sleep (&lt;7h/night)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4186386" y="6197798"/>
            <a:ext cx="19050" cy="361950"/>
          </a:xfrm>
          <a:prstGeom prst="rect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76959" y="6354961"/>
            <a:ext cx="3702323" cy="47625"/>
          </a:xfrm>
          <a:prstGeom prst="roundRect">
            <a:avLst>
              <a:gd name="adj" fmla="val 50000"/>
            </a:avLst>
          </a:prstGeom>
          <a:solidFill>
            <a:srgbClr val="5E7C99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57539" y="6293048"/>
            <a:ext cx="171450" cy="171450"/>
          </a:xfrm>
          <a:prstGeom prst="ellipse">
            <a:avLst/>
          </a:prstGeom>
          <a:solidFill>
            <a:srgbClr val="5E7C99"/>
          </a:solidFill>
          <a:ln w="28575">
            <a:solidFill>
              <a:srgbClr val="FAF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32155" y="6231136"/>
            <a:ext cx="188595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1.10 · 2017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186386" y="6559748"/>
            <a:ext cx="19050" cy="361950"/>
          </a:xfrm>
          <a:prstGeom prst="rect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20504" y="6716911"/>
            <a:ext cx="2516088" cy="47625"/>
          </a:xfrm>
          <a:prstGeom prst="roundRect">
            <a:avLst>
              <a:gd name="adj" fmla="val 50000"/>
            </a:avLst>
          </a:prstGeom>
          <a:solidFill>
            <a:srgbClr val="C57B4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904208" y="6654998"/>
            <a:ext cx="171450" cy="171450"/>
          </a:xfrm>
          <a:prstGeom prst="ellipse">
            <a:avLst/>
          </a:prstGeom>
          <a:solidFill>
            <a:srgbClr val="C57B4F"/>
          </a:solidFill>
          <a:ln w="28575">
            <a:solidFill>
              <a:srgbClr val="FAF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32155" y="6593086"/>
            <a:ext cx="188595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0.93 · 2021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2500" y="7093148"/>
            <a:ext cx="96465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 sedentary (≥8h/day)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186386" y="7488436"/>
            <a:ext cx="19050" cy="361950"/>
          </a:xfrm>
          <a:prstGeom prst="rect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2500" y="7645598"/>
            <a:ext cx="4284166" cy="47625"/>
          </a:xfrm>
          <a:prstGeom prst="roundRect">
            <a:avLst>
              <a:gd name="adj" fmla="val 50000"/>
            </a:avLst>
          </a:prstGeom>
          <a:solidFill>
            <a:srgbClr val="5E7C99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027685" y="7583686"/>
            <a:ext cx="171450" cy="171450"/>
          </a:xfrm>
          <a:prstGeom prst="ellipse">
            <a:avLst/>
          </a:prstGeom>
          <a:solidFill>
            <a:srgbClr val="5E7C99"/>
          </a:solidFill>
          <a:ln w="28575">
            <a:solidFill>
              <a:srgbClr val="FAF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432155" y="7521773"/>
            <a:ext cx="188595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0.67 · 2017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186386" y="7850386"/>
            <a:ext cx="19050" cy="361950"/>
          </a:xfrm>
          <a:prstGeom prst="rect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100932" y="8007548"/>
            <a:ext cx="3860974" cy="47625"/>
          </a:xfrm>
          <a:prstGeom prst="roundRect">
            <a:avLst>
              <a:gd name="adj" fmla="val 50000"/>
            </a:avLst>
          </a:prstGeom>
          <a:solidFill>
            <a:srgbClr val="C57B4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964632" y="7945636"/>
            <a:ext cx="171450" cy="171450"/>
          </a:xfrm>
          <a:prstGeom prst="ellipse">
            <a:avLst/>
          </a:prstGeom>
          <a:solidFill>
            <a:srgbClr val="C57B4F"/>
          </a:solidFill>
          <a:ln w="28575">
            <a:solidFill>
              <a:srgbClr val="FAF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32155" y="7883723"/>
            <a:ext cx="188595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0.95 · 2021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52500" y="8307586"/>
            <a:ext cx="7555855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121843" y="8393311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980631" y="8393311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839346" y="8393311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52500" y="8726686"/>
            <a:ext cx="964657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confidence interval crosses OR = 1.0 — no significant association in either cohort.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851505" y="3235226"/>
            <a:ext cx="6483995" cy="2255341"/>
          </a:xfrm>
          <a:prstGeom prst="roundRect">
            <a:avLst>
              <a:gd name="adj" fmla="val 5913"/>
            </a:avLst>
          </a:prstGeom>
          <a:solidFill>
            <a:srgbClr val="E7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1156305" y="3520976"/>
            <a:ext cx="14139" cy="1683841"/>
          </a:xfrm>
          <a:prstGeom prst="roundRect">
            <a:avLst>
              <a:gd name="adj" fmla="val 49999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1341894" y="3520976"/>
            <a:ext cx="5859470" cy="17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125E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metabolic pathway — obesity and triglycerides — dominates. Wellness "liver-detox" claims lack epidemiological support here.</a:t>
            </a:r>
            <a:endParaRPr lang="en-US" sz="2550" dirty="0"/>
          </a:p>
        </p:txBody>
      </p:sp>
      <p:sp>
        <p:nvSpPr>
          <p:cNvPr id="41" name="Shape 39"/>
          <p:cNvSpPr/>
          <p:nvPr/>
        </p:nvSpPr>
        <p:spPr>
          <a:xfrm>
            <a:off x="10851505" y="5700117"/>
            <a:ext cx="6483995" cy="1923008"/>
          </a:xfrm>
          <a:prstGeom prst="roundRect">
            <a:avLst>
              <a:gd name="adj" fmla="val 6934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1146780" y="5957292"/>
            <a:ext cx="607024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product &amp; safety strategy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1146780" y="6371630"/>
            <a:ext cx="6070248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Tylenol's liver messaging should center on dose adherence and metabolic co-factors — not mental-health or sleep positioning.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0851505" y="7832675"/>
            <a:ext cx="6483995" cy="1923008"/>
          </a:xfrm>
          <a:prstGeom prst="roundRect">
            <a:avLst>
              <a:gd name="adj" fmla="val 6934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1146780" y="8089850"/>
            <a:ext cx="607024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But the trends still matter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1146780" y="8504188"/>
            <a:ext cx="6070248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Depression (+3.6pp) and sedentary behavior (+3.4pp) are real population shifts worth tracking — even if they don't move ALT directly.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52500" y="9182100"/>
            <a:ext cx="16383000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52500" y="9382125"/>
            <a:ext cx="62443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NHANES × KENVUE — LIVER INJURY ANALYSIS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7024598" y="9382125"/>
            <a:ext cx="3871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APPLICATIONS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28725"/>
            <a:ext cx="14716125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b="1" kern="0" spc="-8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Kenvue can do </a:t>
            </a:r>
            <a:r>
              <a:rPr lang="en-US" sz="4050" b="1" kern="0" spc="-81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this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52500" y="1763613"/>
            <a:ext cx="5308550" cy="3433018"/>
          </a:xfrm>
          <a:prstGeom prst="roundRect">
            <a:avLst>
              <a:gd name="adj" fmla="val 3884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76350" y="2087463"/>
            <a:ext cx="48006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FFFFFF">
                    <a:alpha val="78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THREE LEVERS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76350" y="2634928"/>
            <a:ext cx="4800676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Waist circumference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76350" y="3121596"/>
            <a:ext cx="4800676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Triglycerides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76350" y="3608263"/>
            <a:ext cx="4800676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Male sex </a:t>
            </a: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(post-COVID)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76350" y="4232821"/>
            <a:ext cx="48006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data-supported targets for every application below.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89650" y="1763613"/>
            <a:ext cx="5308625" cy="3433018"/>
          </a:xfrm>
          <a:prstGeom prst="roundRect">
            <a:avLst>
              <a:gd name="adj" fmla="val 3884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03975" y="2077938"/>
            <a:ext cx="48203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03975" y="2487513"/>
            <a:ext cx="4820374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Tylenol label &amp; safety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803975" y="2974181"/>
            <a:ext cx="4820374" cy="1363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Frame the 8.2% population "background" ALT rate for adverse-event context; target dosing guidance to obese males with high triglycerides.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026875" y="1763613"/>
            <a:ext cx="5308550" cy="3433018"/>
          </a:xfrm>
          <a:prstGeom prst="roundRect">
            <a:avLst>
              <a:gd name="adj" fmla="val 3884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341200" y="2077938"/>
            <a:ext cx="482029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1200" y="2487513"/>
            <a:ext cx="4820297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OTC hepatology products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341200" y="2974181"/>
            <a:ext cx="4820297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Waist + triglycerides define the metabolic phenotype to position against; 42% obesity prevalence is the addressable market.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5425232"/>
            <a:ext cx="5308550" cy="3433018"/>
          </a:xfrm>
          <a:prstGeom prst="roundRect">
            <a:avLst>
              <a:gd name="adj" fmla="val 3884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66825" y="5739557"/>
            <a:ext cx="482029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66825" y="6149132"/>
            <a:ext cx="4820297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Post-market surveillance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66825" y="6635800"/>
            <a:ext cx="4820297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Re-run the model on future NHANES cycles to detect population shifts before they surface as pharmacovigilance signals.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89650" y="5425428"/>
            <a:ext cx="5308625" cy="3433018"/>
          </a:xfrm>
          <a:prstGeom prst="roundRect">
            <a:avLst>
              <a:gd name="adj" fmla="val 3884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03975" y="5739753"/>
            <a:ext cx="48203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03975" y="6149328"/>
            <a:ext cx="4820374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Consumer health campaigns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6803975" y="6635996"/>
            <a:ext cx="4820374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Male sex hit OR 2.93 post-COVID — male-targeted liver-health awareness is now evidence-backed, not assumed.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026875" y="5425428"/>
            <a:ext cx="5308550" cy="3433018"/>
          </a:xfrm>
          <a:prstGeom prst="roundRect">
            <a:avLst>
              <a:gd name="adj" fmla="val 3884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341200" y="5739753"/>
            <a:ext cx="482029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1200" y="6149328"/>
            <a:ext cx="4820297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R&amp;D pipeline screening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2341200" y="6635996"/>
            <a:ext cx="4820297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ML model (AUC 0.97, NPV 99.3%) serves as a population-level risk-stratification tool for clinical-trial enrichment.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2500" y="9182100"/>
            <a:ext cx="16383000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52500" y="9382125"/>
            <a:ext cx="62443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NHANES × KENVUE — LIVER INJURY ANALYSIS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7024598" y="9382125"/>
            <a:ext cx="3871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· AGENTIC 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28725"/>
            <a:ext cx="14716125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b="1" kern="0" spc="-8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agentic layer that makes the analysis </a:t>
            </a:r>
            <a:r>
              <a:rPr lang="en-US" sz="4050" b="1" kern="0" spc="-81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conversational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1935063"/>
            <a:ext cx="115766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Claude-powered assistant turns the analysis into a natural-language interface — any stakeholder can query the real data and get grounded answers.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3610049"/>
            <a:ext cx="88154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THREE-AGENT DESIGN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08336" y="4133924"/>
            <a:ext cx="6846987" cy="681038"/>
          </a:xfrm>
          <a:prstGeom prst="roundRect">
            <a:avLst>
              <a:gd name="adj" fmla="val 19580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50900" y="4314899"/>
            <a:ext cx="656185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question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222304" y="4814962"/>
            <a:ext cx="19050" cy="228600"/>
          </a:xfrm>
          <a:prstGeom prst="rect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52500" y="5043562"/>
            <a:ext cx="8558733" cy="1233488"/>
          </a:xfrm>
          <a:prstGeom prst="roundRect">
            <a:avLst>
              <a:gd name="adj" fmla="val 10811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8820" y="5272162"/>
            <a:ext cx="8266093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Orchestrator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98820" y="5753174"/>
            <a:ext cx="82660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SONNET · CLASSIFIES INTENT · ~100MS · NO TOOLS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64247" y="6277049"/>
            <a:ext cx="19050" cy="228600"/>
          </a:xfrm>
          <a:prstGeom prst="rect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80437" y="6277049"/>
            <a:ext cx="19050" cy="228600"/>
          </a:xfrm>
          <a:prstGeom prst="rect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2500" y="6505649"/>
            <a:ext cx="4174554" cy="2195364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2500" y="8691488"/>
            <a:ext cx="4174554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52500" y="6505649"/>
            <a:ext cx="4174554" cy="38100"/>
          </a:xfrm>
          <a:prstGeom prst="rect">
            <a:avLst/>
          </a:prstGeom>
          <a:solidFill>
            <a:srgbClr val="5E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2500" y="6505649"/>
            <a:ext cx="9525" cy="2195364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17529" y="6505649"/>
            <a:ext cx="9525" cy="2195364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90625" y="6753299"/>
            <a:ext cx="380925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Q&amp;A Agent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90625" y="7129537"/>
            <a:ext cx="380925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Haiku · fast / cheap max 3 turns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90625" y="7864748"/>
            <a:ext cx="3809254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lookups, stats, prevalence, reports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336604" y="6505649"/>
            <a:ext cx="4174629" cy="2195364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36604" y="8691488"/>
            <a:ext cx="4174629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36604" y="6505649"/>
            <a:ext cx="4174629" cy="38100"/>
          </a:xfrm>
          <a:prstGeom prst="rect">
            <a:avLst/>
          </a:prstGeom>
          <a:solidFill>
            <a:srgbClr val="C57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336604" y="6505649"/>
            <a:ext cx="9525" cy="2195364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01708" y="6505649"/>
            <a:ext cx="9525" cy="2195364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74729" y="6753299"/>
            <a:ext cx="380933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Analysis Agent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5574729" y="7129537"/>
            <a:ext cx="380933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Sonnet · powerful max 5 turns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74729" y="7864748"/>
            <a:ext cx="380933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Subgroup regressions, mechanisms, re-runs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044633" y="2820888"/>
            <a:ext cx="75095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TOOLS ACROSS BOTH AGENTS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044633" y="3344763"/>
            <a:ext cx="7290867" cy="2419350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339908" y="3601938"/>
            <a:ext cx="69013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7C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Q&amp;A · READ-ONLY · MILLISECONDS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339908" y="4030563"/>
            <a:ext cx="2011710" cy="428625"/>
          </a:xfrm>
          <a:prstGeom prst="roundRect">
            <a:avLst>
              <a:gd name="adj" fmla="val 15556"/>
            </a:avLst>
          </a:prstGeom>
          <a:solidFill>
            <a:srgbClr val="E9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454208" y="4097238"/>
            <a:ext cx="18593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read_or_table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2446868" y="4030563"/>
            <a:ext cx="2697510" cy="428625"/>
          </a:xfrm>
          <a:prstGeom prst="roundRect">
            <a:avLst>
              <a:gd name="adj" fmla="val 15556"/>
            </a:avLst>
          </a:prstGeom>
          <a:solidFill>
            <a:srgbClr val="E9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2561168" y="4097238"/>
            <a:ext cx="25498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read_shap_rankings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339908" y="4554438"/>
            <a:ext cx="2286000" cy="428625"/>
          </a:xfrm>
          <a:prstGeom prst="roundRect">
            <a:avLst>
              <a:gd name="adj" fmla="val 15556"/>
            </a:avLst>
          </a:prstGeom>
          <a:solidFill>
            <a:srgbClr val="E9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454208" y="4621113"/>
            <a:ext cx="2133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read_ml_metrics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2721158" y="4554438"/>
            <a:ext cx="3109020" cy="428625"/>
          </a:xfrm>
          <a:prstGeom prst="roundRect">
            <a:avLst>
              <a:gd name="adj" fmla="val 15556"/>
            </a:avLst>
          </a:prstGeom>
          <a:solidFill>
            <a:srgbClr val="E9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2835458" y="4621113"/>
            <a:ext cx="29736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read_prevalence_table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0339908" y="5078313"/>
            <a:ext cx="1737420" cy="428625"/>
          </a:xfrm>
          <a:prstGeom prst="roundRect">
            <a:avLst>
              <a:gd name="adj" fmla="val 15556"/>
            </a:avLst>
          </a:prstGeom>
          <a:solidFill>
            <a:srgbClr val="E9ED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454208" y="5144988"/>
            <a:ext cx="15850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read_report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0044633" y="5935563"/>
            <a:ext cx="7290867" cy="1895475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339908" y="6192738"/>
            <a:ext cx="69013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57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ANALYSIS · COMPUTE · SECONDS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0339908" y="6621363"/>
            <a:ext cx="2971800" cy="428625"/>
          </a:xfrm>
          <a:prstGeom prst="roundRect">
            <a:avLst>
              <a:gd name="adj" fmla="val 15556"/>
            </a:avLst>
          </a:prstGeom>
          <a:solidFill>
            <a:srgbClr val="F6EC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454208" y="6688038"/>
            <a:ext cx="28323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query_analytic_table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3406958" y="6621363"/>
            <a:ext cx="3109020" cy="428625"/>
          </a:xfrm>
          <a:prstGeom prst="roundRect">
            <a:avLst>
              <a:gd name="adj" fmla="val 15556"/>
            </a:avLst>
          </a:prstGeom>
          <a:solidFill>
            <a:srgbClr val="F6EC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3521258" y="6688038"/>
            <a:ext cx="29736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run_subgroup_analysis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0339908" y="7145238"/>
            <a:ext cx="2971800" cy="428625"/>
          </a:xfrm>
          <a:prstGeom prst="roundRect">
            <a:avLst>
              <a:gd name="adj" fmla="val 15556"/>
            </a:avLst>
          </a:prstGeom>
          <a:solidFill>
            <a:srgbClr val="F6EC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454208" y="7211913"/>
            <a:ext cx="28323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explain_risk_factors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3406958" y="7145238"/>
            <a:ext cx="2971800" cy="428625"/>
          </a:xfrm>
          <a:prstGeom prst="roundRect">
            <a:avLst>
              <a:gd name="adj" fmla="val 15556"/>
            </a:avLst>
          </a:prstGeom>
          <a:solidFill>
            <a:srgbClr val="F6EC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3521258" y="7211913"/>
            <a:ext cx="28323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21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run_inference_script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0044633" y="8002488"/>
            <a:ext cx="7290867" cy="1487686"/>
          </a:xfrm>
          <a:prstGeom prst="roundRect">
            <a:avLst>
              <a:gd name="adj" fmla="val 8964"/>
            </a:avLst>
          </a:prstGeom>
          <a:solidFill>
            <a:srgbClr val="E7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0044633" y="9480649"/>
            <a:ext cx="7290867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0044633" y="8002488"/>
            <a:ext cx="7290867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0044633" y="8002488"/>
            <a:ext cx="47625" cy="1487686"/>
          </a:xfrm>
          <a:prstGeom prst="rect">
            <a:avLst/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7325975" y="8002488"/>
            <a:ext cx="9525" cy="1487686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378008" y="8240613"/>
            <a:ext cx="68620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5E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compute_individual_risk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0378008" y="8612088"/>
            <a:ext cx="686208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25E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key feature — a personalized ALT-elevation probability from any consumer profile.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952500" y="9182100"/>
            <a:ext cx="16383000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52500" y="9382125"/>
            <a:ext cx="62443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NHANES × KENVUE — LIVER INJURY ANALYSIS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7024598" y="9382125"/>
            <a:ext cx="3871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· AGENTIC 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28725"/>
            <a:ext cx="14716125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b="1" kern="0" spc="-8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Personalized risk, </a:t>
            </a:r>
            <a:r>
              <a:rPr lang="en-US" sz="4050" b="1" kern="0" spc="-81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plain English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52500" y="2917329"/>
            <a:ext cx="9157320" cy="4188916"/>
          </a:xfrm>
          <a:prstGeom prst="roundRect">
            <a:avLst>
              <a:gd name="adj" fmla="val 3183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04925" y="3250704"/>
            <a:ext cx="87060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SAMPLE INTERACTION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04925" y="3755529"/>
            <a:ext cx="87060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04925" y="4127004"/>
            <a:ext cx="870604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"A 55-year-old male, waist 108 cm, triglycerides 280, former smoker, no diabetes — what's his ALT-elevation risk?"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304925" y="5029944"/>
            <a:ext cx="8452470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04925" y="5249019"/>
            <a:ext cx="87060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57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ORCHESTRATOR → Q&amp;A AGENT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04925" y="5620494"/>
            <a:ext cx="870604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calls compute_individual_risk()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04925" y="6054775"/>
            <a:ext cx="8706044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"Estimated risk </a:t>
            </a:r>
            <a:r>
              <a:rPr lang="en-US" sz="1950" b="1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~14% </a:t>
            </a: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about </a:t>
            </a:r>
            <a:r>
              <a:rPr lang="en-US" sz="1950" b="1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2.7× the population average </a:t>
            </a:r>
            <a:r>
              <a:rPr lang="en-US" sz="1950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Top drivers: male sex, triglycerides, and waist circumference."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567020" y="2917329"/>
            <a:ext cx="6768480" cy="246310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881345" y="3193554"/>
            <a:ext cx="63240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compute_individual_risk WORKS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767045" y="3641229"/>
            <a:ext cx="6330330" cy="150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342900" indent="-342900" algn="l">
              <a:lnSpc>
                <a:spcPct val="160000"/>
              </a:lnSpc>
              <a:buSzPct val="100000"/>
              <a:buFont typeface="+mj-lt"/>
              <a:buAutoNum type="arabicPeriod"/>
              <a:tabLst>
                <a:tab pos="342900" algn="l"/>
              </a:tabLst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 β coefficients from the OR table</a:t>
            </a:r>
            <a:endParaRPr lang="en-US" sz="1800" dirty="0"/>
          </a:p>
          <a:p>
            <a:pPr marL="342900" indent="-342900" algn="l">
              <a:lnSpc>
                <a:spcPct val="160000"/>
              </a:lnSpc>
              <a:buSzPct val="100000"/>
              <a:buFont typeface="+mj-lt"/>
              <a:buAutoNum type="arabicPeriod" startAt="2"/>
              <a:tabLst>
                <a:tab pos="342900" algn="l"/>
              </a:tabLst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Calibrate intercept so the average person → 5.2%</a:t>
            </a:r>
            <a:endParaRPr lang="en-US" sz="1800" dirty="0"/>
          </a:p>
          <a:p>
            <a:pPr marL="342900" indent="-342900" algn="l">
              <a:lnSpc>
                <a:spcPct val="160000"/>
              </a:lnSpc>
              <a:buSzPct val="100000"/>
              <a:buFont typeface="+mj-lt"/>
              <a:buAutoNum type="arabicPeriod" startAt="3"/>
              <a:tabLst>
                <a:tab pos="342900" algn="l"/>
              </a:tabLst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 β × person values → log-odds</a:t>
            </a:r>
            <a:endParaRPr lang="en-US" sz="1800" dirty="0"/>
          </a:p>
          <a:p>
            <a:pPr marL="342900" indent="-342900" algn="l">
              <a:lnSpc>
                <a:spcPct val="160000"/>
              </a:lnSpc>
              <a:buSzPct val="100000"/>
              <a:buFont typeface="+mj-lt"/>
              <a:buAutoNum type="arabicPeriod" startAt="4"/>
              <a:tabLst>
                <a:tab pos="342900" algn="l"/>
              </a:tabLst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Convert to probability + top-3 drivers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67020" y="5589984"/>
            <a:ext cx="6768480" cy="2114550"/>
          </a:xfrm>
          <a:prstGeom prst="roundRect">
            <a:avLst>
              <a:gd name="adj" fmla="val 6306"/>
            </a:avLst>
          </a:prstGeom>
          <a:solidFill>
            <a:srgbClr val="FFFFFF"/>
          </a:solidFill>
          <a:ln w="9525">
            <a:solidFill>
              <a:srgbClr val="E5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881345" y="5866209"/>
            <a:ext cx="63240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5A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 AS A STREAMLIT APP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881345" y="6313884"/>
            <a:ext cx="1066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005295" y="6313884"/>
            <a:ext cx="37454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AI conversation + figure viewer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881345" y="6723459"/>
            <a:ext cx="11735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ANALYSIS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112005" y="6723459"/>
            <a:ext cx="22045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Pre/post-COVID ORs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881345" y="7133034"/>
            <a:ext cx="1066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REPORT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005295" y="7133034"/>
            <a:ext cx="46159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AI-generated stakeholder briefs on demand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" y="9182100"/>
            <a:ext cx="16383000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52500" y="9382125"/>
            <a:ext cx="62443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NHANES × KENVUE — LIVER INJURY ANALYSIS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7024598" y="9382125"/>
            <a:ext cx="3871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· CLOSE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28725"/>
            <a:ext cx="14716125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b="1" kern="0" spc="-8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population data </a:t>
            </a:r>
            <a:r>
              <a:rPr lang="en-US" sz="4050" b="1" kern="0" spc="-81" dirty="0">
                <a:solidFill>
                  <a:srgbClr val="1B7A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portfolio strategy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3581251"/>
            <a:ext cx="4191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04950" y="3581251"/>
            <a:ext cx="8409729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 adiposity is the single most policy-relevant lever. </a:t>
            </a:r>
            <a:r>
              <a:rPr lang="en-US" sz="195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1 cm of waist raises ALT-elevation odds ~2.7%.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4503241"/>
            <a:ext cx="4191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04950" y="4503241"/>
            <a:ext cx="8409729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Triglycerides are the second pathway </a:t>
            </a:r>
            <a:r>
              <a:rPr lang="en-US" sz="195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even modest dyslipidemia compounds risk.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5425232"/>
            <a:ext cx="4191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504950" y="5425232"/>
            <a:ext cx="8409729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post-COVID population is biologically different </a:t>
            </a:r>
            <a:r>
              <a:rPr lang="en-US" sz="195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male sex strengthened; diabetes de-coupled. Track it prospectively.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52500" y="6347222"/>
            <a:ext cx="4191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B7A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504950" y="6347222"/>
            <a:ext cx="8409729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99.3% negative predictive value </a:t>
            </a:r>
            <a:r>
              <a:rPr lang="en-US" sz="1950" dirty="0">
                <a:solidFill>
                  <a:srgbClr val="5A64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makes the model a credible screening &amp; trial-enrichment tool.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203135" y="3750618"/>
            <a:ext cx="7132365" cy="1930003"/>
          </a:xfrm>
          <a:prstGeom prst="roundRect">
            <a:avLst>
              <a:gd name="adj" fmla="val 6909"/>
            </a:avLst>
          </a:prstGeom>
          <a:solidFill>
            <a:srgbClr val="1B7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46035" y="4074468"/>
            <a:ext cx="6639962" cy="1320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Rigorous epidemiology, validated ML, and an agentic-AI interface — a complete, decision-ready pipeline for Kenvue.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203135" y="5947321"/>
            <a:ext cx="7132365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03135" y="6218783"/>
            <a:ext cx="450673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21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Adarsh Kasula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203135" y="6575971"/>
            <a:ext cx="45067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SCIENCE PORTFOLIO · 2026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64680" y="6185446"/>
            <a:ext cx="22708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NHANES 2017–2023 SURVEY-WEIGHTED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182100"/>
            <a:ext cx="16383000" cy="9525"/>
          </a:xfrm>
          <a:prstGeom prst="rect">
            <a:avLst/>
          </a:prstGeom>
          <a:solidFill>
            <a:srgbClr val="E5E4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2500" y="9382125"/>
            <a:ext cx="62443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NHANES × KENVUE — LIVER INJURY ANALYSIS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024598" y="9382125"/>
            <a:ext cx="3871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A92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1627</Words>
  <Application>Microsoft Macintosh PowerPoint</Application>
  <PresentationFormat>Custom</PresentationFormat>
  <Paragraphs>293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Adarsh Kasula</cp:lastModifiedBy>
  <cp:revision>3</cp:revision>
  <dcterms:created xsi:type="dcterms:W3CDTF">2026-06-15T04:25:03Z</dcterms:created>
  <dcterms:modified xsi:type="dcterms:W3CDTF">2026-06-15T20:05:05Z</dcterms:modified>
</cp:coreProperties>
</file>